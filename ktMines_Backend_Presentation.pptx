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B998B">
              <a:alpha val="18000"/>
            </a:srgbClr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2EC4B6">
              <a:alpha val="12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4480560"/>
            <a:ext cx="8979408" cy="36576"/>
          </a:xfrm>
          <a:prstGeom prst="rect">
            <a:avLst/>
          </a:prstGeom>
          <a:solidFill>
            <a:srgbClr val="1B998B">
              <a:alpha val="4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ktMines API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Patent Intelligence Platform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3063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backend exposing REST APIs for bulk patent retrieval,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search, PDF/image downloads, and AI-assisted Excel querying.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ktMines · github.com/Sneha01022000/ktMines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3931920" cy="34747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ktMines?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API backend built in Java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the KT Mine patent intelligence platform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API keys per request for secure multi-tenant access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bulk patent lookups by document number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patent search with pagination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Excel reports, downloads PDFs &amp; patent images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Excel Q&amp;A via OpenAI GPT-4o mini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37160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371600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/>
          <p:nvPr/>
        </p:nvSpPr>
        <p:spPr>
          <a:xfrm>
            <a:off x="4791456" y="14264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91456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17+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66560" y="1371600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4" name="Text 12"/>
          <p:cNvSpPr/>
          <p:nvPr/>
        </p:nvSpPr>
        <p:spPr>
          <a:xfrm>
            <a:off x="6894576" y="14264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94576" y="17190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37744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377440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8" name="Text 16"/>
          <p:cNvSpPr/>
          <p:nvPr/>
        </p:nvSpPr>
        <p:spPr>
          <a:xfrm>
            <a:off x="4791456" y="24323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91456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RestTemplate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37744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2377440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2" name="Text 20"/>
          <p:cNvSpPr/>
          <p:nvPr/>
        </p:nvSpPr>
        <p:spPr>
          <a:xfrm>
            <a:off x="6894576" y="24323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Engine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94576" y="2724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POI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338328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383280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6" name="Text 24"/>
          <p:cNvSpPr/>
          <p:nvPr/>
        </p:nvSpPr>
        <p:spPr>
          <a:xfrm>
            <a:off x="4791456" y="34381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91456" y="3730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mini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766560" y="3383280"/>
            <a:ext cx="1920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3383280"/>
            <a:ext cx="54864" cy="7772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0" name="Text 28"/>
          <p:cNvSpPr/>
          <p:nvPr/>
        </p:nvSpPr>
        <p:spPr>
          <a:xfrm>
            <a:off x="6894576" y="343814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94576" y="37307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828800" cy="914400"/>
          </a:xfrm>
          <a:prstGeom prst="rect">
            <a:avLst/>
          </a:prstGeom>
          <a:solidFill>
            <a:srgbClr val="1B998B">
              <a:alpha val="85000"/>
            </a:srgbClr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87782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47472" y="1207008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Upload / HTTP Request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51760" y="822960"/>
            <a:ext cx="2011680" cy="914400"/>
          </a:xfrm>
          <a:prstGeom prst="rect">
            <a:avLst/>
          </a:prstGeom>
          <a:solidFill>
            <a:srgbClr val="2EC4B6">
              <a:alpha val="85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87782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24912" y="120700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ExcelController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OpenAiController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212080" y="822960"/>
            <a:ext cx="2011680" cy="914400"/>
          </a:xfrm>
          <a:prstGeom prst="rect">
            <a:avLst/>
          </a:prstGeom>
          <a:solidFill>
            <a:srgbClr val="FF9F1C">
              <a:alpha val="85000"/>
            </a:srgbClr>
          </a:solidFill>
          <a:ln w="19050">
            <a:solidFill>
              <a:srgbClr val="FF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85232" y="87782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85232" y="120700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ktMINESService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ExcelService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DocumentService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0" y="822960"/>
            <a:ext cx="1417320" cy="914400"/>
          </a:xfrm>
          <a:prstGeom prst="rect">
            <a:avLst/>
          </a:prstGeom>
          <a:solidFill>
            <a:srgbClr val="6C63FF">
              <a:alpha val="85000"/>
            </a:srgbClr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71232" y="877824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571232" y="1207008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 Mine API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03120" y="1261872"/>
            <a:ext cx="50292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1188720"/>
            <a:ext cx="128016" cy="14630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8" name="Shape 16"/>
          <p:cNvSpPr/>
          <p:nvPr/>
        </p:nvSpPr>
        <p:spPr>
          <a:xfrm>
            <a:off x="4663440" y="1261872"/>
            <a:ext cx="50292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4920" y="1188720"/>
            <a:ext cx="128016" cy="14630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1261872"/>
            <a:ext cx="502920" cy="0"/>
          </a:xfrm>
          <a:prstGeom prst="line">
            <a:avLst/>
          </a:prstGeom>
          <a:noFill/>
          <a:ln w="25400">
            <a:solidFill>
              <a:srgbClr val="1B99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35240" y="1188720"/>
            <a:ext cx="128016" cy="146304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2103120"/>
            <a:ext cx="8595360" cy="713232"/>
          </a:xfrm>
          <a:prstGeom prst="rect">
            <a:avLst/>
          </a:prstGeom>
          <a:solidFill>
            <a:srgbClr val="112233"/>
          </a:solidFill>
          <a:ln w="6350">
            <a:solidFill>
              <a:srgbClr val="1B99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103120"/>
            <a:ext cx="73152" cy="7132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" y="21488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Excel &amp; Bulk Lookup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2423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Excel with patent numbers → extract doc numbers → call KT Mine Bulk API → generate Excel response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2971800"/>
            <a:ext cx="8595360" cy="713232"/>
          </a:xfrm>
          <a:prstGeom prst="rect">
            <a:avLst/>
          </a:prstGeom>
          <a:solidFill>
            <a:srgbClr val="112233"/>
          </a:solidFill>
          <a:ln w="6350">
            <a:solidFill>
              <a:srgbClr val="1B99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971800"/>
            <a:ext cx="73152" cy="7132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30175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Search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query → call KT Mine Search API → extract document numbers → Bulk API → generate Excel with results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749040"/>
            <a:ext cx="8595360" cy="713232"/>
          </a:xfrm>
          <a:prstGeom prst="rect">
            <a:avLst/>
          </a:prstGeom>
          <a:solidFill>
            <a:srgbClr val="112233"/>
          </a:solidFill>
          <a:ln w="6350">
            <a:solidFill>
              <a:srgbClr val="1B99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3749040"/>
            <a:ext cx="73152" cy="7132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" y="3794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Image Download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Excel → fetch patent PDFs or PNG images in parallel (parallelStream) → compress into ZIP → return to client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526280"/>
            <a:ext cx="8595360" cy="713232"/>
          </a:xfrm>
          <a:prstGeom prst="rect">
            <a:avLst/>
          </a:prstGeom>
          <a:solidFill>
            <a:srgbClr val="112233"/>
          </a:solidFill>
          <a:ln w="6350">
            <a:solidFill>
              <a:srgbClr val="1B998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4526280"/>
            <a:ext cx="73152" cy="713232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" y="4572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Excel Q&amp;A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75488" y="4846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Excel + question → parse sheet content → send to GPT-4o mini → return AI-generated answer as JSON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41248"/>
            <a:ext cx="685800" cy="67665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41248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896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/api/v1/excel/importExcel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1887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Excel file, extract document numbers, call Bulk API, return Excel with patent data.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45920"/>
            <a:ext cx="859536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45920"/>
            <a:ext cx="685800" cy="676656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645920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7007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/api/v1/excel/search-patents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199339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patent search query. Calls Search API, then Bulk API; returns Excel with matched results.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859536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50592"/>
            <a:ext cx="685800" cy="676656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450592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51560" y="250545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/api/v1/excel/downloadPatentPDF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27980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PDFs for all document numbers in parallel; returns a single ZIP file.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55264"/>
            <a:ext cx="859536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55264"/>
            <a:ext cx="685800" cy="676656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3255264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33101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/api/v1/excel/imageDownload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360273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patent PNG images asynchronously; zips into folder-per-patent structure.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8595360" cy="67665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59936"/>
            <a:ext cx="685800" cy="67665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4059936"/>
            <a:ext cx="685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/api/v1/gemini/fetchExcelQueryData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51560" y="440740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Excel + question; sends data to GPT-4o mini; returns AI answer as JSON.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 — DEEP DIVE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206240" cy="2276856"/>
          </a:xfrm>
          <a:prstGeom prst="rect">
            <a:avLst/>
          </a:prstGeom>
          <a:solidFill>
            <a:srgbClr val="0D1F30"/>
          </a:solidFill>
          <a:ln w="1524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411480"/>
          </a:xfrm>
          <a:prstGeom prst="rect">
            <a:avLst/>
          </a:prstGeom>
          <a:solidFill>
            <a:srgbClr val="1B998B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8778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ktMINESService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325880"/>
            <a:ext cx="40233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callBulkApi() — POST to KT Mine Bulk API, sends doc numbers + key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callSearchApi() — POST to KT Mine Search API with q, start, count pagination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fetchPatentPdf() — GET PDF by doc number &amp; API key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fetchPatentPng() — GET PNG image with optional reduction 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4206240" cy="2276856"/>
          </a:xfrm>
          <a:prstGeom prst="rect">
            <a:avLst/>
          </a:prstGeom>
          <a:solidFill>
            <a:srgbClr val="0D1F30"/>
          </a:solidFill>
          <a:ln w="15240">
            <a:solidFill>
              <a:srgbClr val="FF9F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2743200"/>
            <a:ext cx="4206240" cy="411480"/>
          </a:xfrm>
          <a:prstGeom prst="rect">
            <a:avLst/>
          </a:prstGeom>
          <a:solidFill>
            <a:srgbClr val="FF9F1C">
              <a:alpha val="8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27980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ExcelService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3246120"/>
            <a:ext cx="402336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extractDocumentNumbers() — reads col A of uploaded Excel (skips header)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generateExcelFromJson() — builds 23+ column patent report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createZipFromPdfFiles() — packages PDFs into ZIP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createZipFromPNGs() — folder-per-patent ZIP of images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0" y="822960"/>
            <a:ext cx="3977640" cy="1435608"/>
          </a:xfrm>
          <a:prstGeom prst="rect">
            <a:avLst/>
          </a:prstGeom>
          <a:solidFill>
            <a:srgbClr val="0D1F30"/>
          </a:solidFill>
          <a:ln w="15240">
            <a:solidFill>
              <a:srgbClr val="6C6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822960"/>
            <a:ext cx="3977640" cy="411480"/>
          </a:xfrm>
          <a:prstGeom prst="rect">
            <a:avLst/>
          </a:prstGeom>
          <a:solidFill>
            <a:srgbClr val="6C63FF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956048" y="87782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DocumentService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56048" y="1325880"/>
            <a:ext cx="379476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processDocuments() — async CompletableFuture fan-out to fetch all images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fetchImages() — parallelStream per patent, filters failed responses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REPORT — DATA FIELDS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generateExcelFromJson() produces a rich 23+ column report from the KT Mine API response: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029968" cy="47548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No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1188720"/>
            <a:ext cx="2029968" cy="47548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Number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2029968" cy="47548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1188720"/>
            <a:ext cx="2029968" cy="47548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0" y="118872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792224"/>
            <a:ext cx="2029968" cy="475488"/>
          </a:xfrm>
          <a:prstGeom prst="rect">
            <a:avLst/>
          </a:prstGeom>
          <a:solidFill>
            <a:srgbClr val="1B998B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17922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Number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468880" y="1792224"/>
            <a:ext cx="2029968" cy="475488"/>
          </a:xfrm>
          <a:prstGeom prst="rect">
            <a:avLst/>
          </a:prstGeom>
          <a:solidFill>
            <a:srgbClr val="1B998B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560320" y="17922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Priority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1792224"/>
            <a:ext cx="2029968" cy="475488"/>
          </a:xfrm>
          <a:prstGeom prst="rect">
            <a:avLst/>
          </a:prstGeom>
          <a:solidFill>
            <a:srgbClr val="1B998B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17922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Filing Date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792224"/>
            <a:ext cx="2029968" cy="475488"/>
          </a:xfrm>
          <a:prstGeom prst="rect">
            <a:avLst/>
          </a:prstGeom>
          <a:solidFill>
            <a:srgbClr val="1B998B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792224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Date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395728"/>
            <a:ext cx="2029968" cy="47548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23957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Authorities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2395728"/>
            <a:ext cx="2029968" cy="47548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60320" y="23957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App Date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395728"/>
            <a:ext cx="2029968" cy="47548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23957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2395728"/>
            <a:ext cx="2029968" cy="47548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239572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 Classes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2999232"/>
            <a:ext cx="2029968" cy="475488"/>
          </a:xfrm>
          <a:prstGeom prst="rect">
            <a:avLst/>
          </a:prstGeom>
          <a:solidFill>
            <a:srgbClr val="1B998B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468880" y="2999232"/>
            <a:ext cx="2029968" cy="475488"/>
          </a:xfrm>
          <a:prstGeom prst="rect">
            <a:avLst/>
          </a:prstGeom>
          <a:solidFill>
            <a:srgbClr val="1B998B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56032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Country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2999232"/>
            <a:ext cx="2029968" cy="475488"/>
          </a:xfrm>
          <a:prstGeom prst="rect">
            <a:avLst/>
          </a:prstGeom>
          <a:solidFill>
            <a:srgbClr val="1B998B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0916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Status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2999232"/>
            <a:ext cx="2029968" cy="475488"/>
          </a:xfrm>
          <a:prstGeom prst="rect">
            <a:avLst/>
          </a:prstGeom>
          <a:solidFill>
            <a:srgbClr val="1B998B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858000" y="2999232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 Classes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0040" y="3602736"/>
            <a:ext cx="2029968" cy="47548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11480" y="36027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Owners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68880" y="3602736"/>
            <a:ext cx="2029968" cy="47548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560320" y="36027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Assignees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17720" y="3602736"/>
            <a:ext cx="2029968" cy="47548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09160" y="36027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ID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66560" y="3602736"/>
            <a:ext cx="2029968" cy="475488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858000" y="3602736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Type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206240"/>
            <a:ext cx="2029968" cy="475488"/>
          </a:xfrm>
          <a:prstGeom prst="rect">
            <a:avLst/>
          </a:prstGeom>
          <a:solidFill>
            <a:srgbClr val="1B998B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11480" y="4206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isLicensed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468880" y="4206240"/>
            <a:ext cx="2029968" cy="475488"/>
          </a:xfrm>
          <a:prstGeom prst="rect">
            <a:avLst/>
          </a:prstGeom>
          <a:solidFill>
            <a:srgbClr val="1B998B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560320" y="4206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isLitigated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4206240"/>
            <a:ext cx="2029968" cy="475488"/>
          </a:xfrm>
          <a:prstGeom prst="rect">
            <a:avLst/>
          </a:prstGeom>
          <a:solidFill>
            <a:srgbClr val="1B998B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09160" y="4206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Events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66560" y="4206240"/>
            <a:ext cx="2029968" cy="475488"/>
          </a:xfrm>
          <a:prstGeom prst="rect">
            <a:avLst/>
          </a:prstGeom>
          <a:solidFill>
            <a:srgbClr val="1B998B">
              <a:alpha val="90000"/>
            </a:srgbClr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858000" y="420624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(dynamic)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320040" y="47731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Claims columns are added dynamically at runtime — one column per claim ID found in the API response.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— OpenAI GPT-4o mini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1600200" cy="1188720"/>
          </a:xfrm>
          <a:prstGeom prst="ellipse">
            <a:avLst/>
          </a:prstGeom>
          <a:solidFill>
            <a:srgbClr val="1B998B">
              <a:alpha val="75000"/>
            </a:srgbClr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68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12801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file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56232" y="1463040"/>
            <a:ext cx="475488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868680"/>
            <a:ext cx="1600200" cy="1188720"/>
          </a:xfrm>
          <a:prstGeom prst="ellipse">
            <a:avLst/>
          </a:prstGeom>
          <a:solidFill>
            <a:srgbClr val="1B998B">
              <a:alpha val="75000"/>
            </a:srgbClr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868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48840" y="12801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sheet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76472" y="1463040"/>
            <a:ext cx="475488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868680"/>
            <a:ext cx="1600200" cy="1188720"/>
          </a:xfrm>
          <a:prstGeom prst="ellipse">
            <a:avLst/>
          </a:prstGeom>
          <a:solidFill>
            <a:srgbClr val="1B998B">
              <a:alpha val="75000"/>
            </a:srgbClr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868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69080" y="12801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prompt: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question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96712" y="1463040"/>
            <a:ext cx="475488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89320" y="868680"/>
            <a:ext cx="1600200" cy="1188720"/>
          </a:xfrm>
          <a:prstGeom prst="ellipse">
            <a:avLst/>
          </a:prstGeom>
          <a:solidFill>
            <a:srgbClr val="1B998B"/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89320" y="868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89320" y="12801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GPT-4o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API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16952" y="1463040"/>
            <a:ext cx="475488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26680" y="868680"/>
            <a:ext cx="1600200" cy="1188720"/>
          </a:xfrm>
          <a:prstGeom prst="ellipse">
            <a:avLst/>
          </a:prstGeom>
          <a:solidFill>
            <a:srgbClr val="1B998B">
              <a:alpha val="75000"/>
            </a:srgbClr>
          </a:solidFill>
          <a:ln w="1905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8686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26680" y="1280160"/>
            <a:ext cx="1600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answer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JSON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423160"/>
            <a:ext cx="4206240" cy="1143000"/>
          </a:xfrm>
          <a:prstGeom prst="rect">
            <a:avLst/>
          </a:prstGeom>
          <a:solidFill>
            <a:srgbClr val="0D1F30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2423160"/>
            <a:ext cx="64008" cy="11430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5" name="Text 23"/>
          <p:cNvSpPr/>
          <p:nvPr/>
        </p:nvSpPr>
        <p:spPr>
          <a:xfrm>
            <a:off x="393192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192" y="2834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/api/v1/gemini/fetchExcelQueryData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Accepts: multipart file + question string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423160"/>
            <a:ext cx="4206240" cy="1143000"/>
          </a:xfrm>
          <a:prstGeom prst="rect">
            <a:avLst/>
          </a:prstGeom>
          <a:solidFill>
            <a:srgbClr val="0D1F3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2423160"/>
            <a:ext cx="64008" cy="11430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29" name="Text 27"/>
          <p:cNvSpPr/>
          <p:nvPr/>
        </p:nvSpPr>
        <p:spPr>
          <a:xfrm>
            <a:off x="4828032" y="2514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28032" y="28346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 mini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via ${openai.api.key} property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" y="3749040"/>
            <a:ext cx="4206240" cy="1143000"/>
          </a:xfrm>
          <a:prstGeom prst="rect">
            <a:avLst/>
          </a:prstGeom>
          <a:solidFill>
            <a:srgbClr val="0D1F30"/>
          </a:solidFill>
          <a:ln w="12700">
            <a:solidFill>
              <a:srgbClr val="FF9F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28600" y="3749040"/>
            <a:ext cx="64008" cy="114300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93192" y="4160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cells from Sheet 0, serializes to tab-delimited text, injects into user prompt before calling OpenAI SDK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3749040"/>
            <a:ext cx="4206240" cy="1143000"/>
          </a:xfrm>
          <a:prstGeom prst="rect">
            <a:avLst/>
          </a:prstGeom>
          <a:solidFill>
            <a:srgbClr val="0D1F30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749040"/>
            <a:ext cx="64008" cy="11430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28032" y="41605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JSON { "answer": "..." } with the model's natural-language response to the question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 &amp; PERFORMANCE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parallelStream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PDF &amp; PNG fetching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743200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CompletableFuture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fan-out per patent document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822960"/>
            <a:ext cx="2743200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8229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ConcurrentHashMap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result collection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PDF Download Flow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" y="24231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doc numbers from Excel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parallelStream → fetchPatentPdf() per number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results in ConcurrentHashMap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docs → X-Failed-Documents header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createZipFromPdfFiles() → return ZIP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Download Flow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242316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callBulkApi() → get imagePaths per patent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CompletableFuture.runAsync() per document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fetchImages() via parallelStream on imagePaths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OK responses, collect byte[]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createZipFromPNGs() with folder structure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80560" y="2011680"/>
            <a:ext cx="0" cy="2834640"/>
          </a:xfrm>
          <a:prstGeom prst="line">
            <a:avLst/>
          </a:prstGeom>
          <a:noFill/>
          <a:ln w="12700">
            <a:solidFill>
              <a:srgbClr val="D6E4E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SECURITY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937760" cy="2743200"/>
          </a:xfrm>
          <a:prstGeom prst="rect">
            <a:avLst/>
          </a:prstGeom>
          <a:solidFill>
            <a:srgbClr val="0A1628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77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application.properties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D6E4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bulkApiUrl    = https://api.ktmine.com/api/v2/patents/bulk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D6E4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searchApiUrl  = https://api.ktmine.com/api/v2/patents/search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D6E4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pdfApiUrl     = .../patents/pdf/%s?key=%s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D6E4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pngApiUrl     = .../patents/png/%s?key=%s&amp;...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D6E4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openai.api.key = xxxxxxxxxx  (inject via env var)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577840" y="8229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Design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234440"/>
            <a:ext cx="3337560" cy="685800"/>
          </a:xfrm>
          <a:prstGeom prst="rect">
            <a:avLst/>
          </a:prstGeom>
          <a:solidFill>
            <a:srgbClr val="0D1F30"/>
          </a:solidFill>
          <a:ln w="635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87568" y="128930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Per-request API keys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87568" y="15727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 Mine key passed as request param — no global session key stored server-side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577840" y="2039112"/>
            <a:ext cx="3337560" cy="685800"/>
          </a:xfrm>
          <a:prstGeom prst="rect">
            <a:avLst/>
          </a:prstGeom>
          <a:solidFill>
            <a:srgbClr val="0D1F30"/>
          </a:solidFill>
          <a:ln w="635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7568" y="209397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CORS Filter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87568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CorsFilter.java handles cross-origin headers for frontend integration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2843784"/>
            <a:ext cx="3337560" cy="685800"/>
          </a:xfrm>
          <a:prstGeom prst="rect">
            <a:avLst/>
          </a:prstGeom>
          <a:solidFill>
            <a:srgbClr val="0D1F30"/>
          </a:solidFill>
          <a:ln w="6350">
            <a:solidFill>
              <a:srgbClr val="1B99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87568" y="289864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OpenAI Key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87568" y="31821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application.properties — should be externalized via env variable in production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3648456"/>
            <a:ext cx="3337560" cy="685800"/>
          </a:xfrm>
          <a:prstGeom prst="rect">
            <a:avLst/>
          </a:prstGeom>
          <a:solidFill>
            <a:srgbClr val="0D1F30"/>
          </a:solidFill>
          <a:ln w="635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3703320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No Auth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87568" y="39867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implementation trusts caller; recommend adding Spring Security for production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370332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9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CorsFilter handles all preflight OPTIONS requests and sets appropriate Access-Control headers for frontend integration.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&amp; FUTURE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ktMines Backend Delivers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1572768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REST backend — 5 production endpoints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 Mine API integration: Bulk, Search, PDF &amp; Image APIs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ingestion &amp; generation with Apache POI (23+ columns)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PDF &amp; image downloads → ZIP output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patent data Q&amp;A via OpenAI GPT-4o mini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CORS-enabled for frontend integration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663440" y="1143000"/>
            <a:ext cx="0" cy="3200400"/>
          </a:xfrm>
          <a:prstGeom prst="line">
            <a:avLst/>
          </a:prstGeom>
          <a:noFill/>
          <a:ln w="12700">
            <a:solidFill>
              <a:srgbClr val="1B99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1430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572768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Spring Security / JWT authentication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caching layer (Redis) for API results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 for patent history &amp; analytics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 queue for large-batch exports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download support for large ZIP files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documentation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6E4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audit logging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998B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ktMines Backend · github.com/Sneha01022000/ktMines · Built with Spring Boot + Java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ktMines Backend - Technical Presentation</dc:title>
  <dc:subject>PptxGenJS Presentation</dc:subject>
  <dc:creator>PptxGenJS</dc:creator>
  <cp:lastModifiedBy>PptxGenJS</cp:lastModifiedBy>
  <cp:revision>1</cp:revision>
  <dcterms:created xsi:type="dcterms:W3CDTF">2026-04-15T08:06:38Z</dcterms:created>
  <dcterms:modified xsi:type="dcterms:W3CDTF">2026-04-15T08:06:38Z</dcterms:modified>
</cp:coreProperties>
</file>